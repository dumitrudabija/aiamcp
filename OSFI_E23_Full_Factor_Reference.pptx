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6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Design</c:v>
                </c:pt>
              </c:strCache>
            </c:strRef>
          </c:tx>
          <c:spPr>
            <a:solidFill>
              <a:srgbClr val="0C62FB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1. Misuse &amp; Unintended Harm</c:v>
                </c:pt>
                <c:pt idx="1">
                  <c:v>2. Output Reliability &amp; Integrity</c:v>
                </c:pt>
                <c:pt idx="2">
                  <c:v>3. Fairness &amp; Customer Impact</c:v>
                </c:pt>
                <c:pt idx="3">
                  <c:v>4. Operational &amp; Security Risk</c:v>
                </c:pt>
                <c:pt idx="4">
                  <c:v>5. Model Complexity &amp; Opacity</c:v>
                </c:pt>
                <c:pt idx="5">
                  <c:v>6. Governance &amp; Oversight</c:v>
                </c:pt>
                <c:pt idx="6">
                  <c:v>7. Data Provenance &amp; Supply Chain</c:v>
                </c:pt>
                <c:pt idx="7">
                  <c:v>8. Systemic &amp; Concentration Risk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80</c:v>
                </c:pt>
                <c:pt idx="1">
                  <c:v>17</c:v>
                </c:pt>
                <c:pt idx="2">
                  <c:v>57</c:v>
                </c:pt>
                <c:pt idx="3">
                  <c:v>86</c:v>
                </c:pt>
                <c:pt idx="4">
                  <c:v>88</c:v>
                </c:pt>
                <c:pt idx="5">
                  <c:v>57</c:v>
                </c:pt>
                <c:pt idx="6">
                  <c:v>25</c:v>
                </c:pt>
                <c:pt idx="7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FF-374B-9B27-51A6DFE68F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Review (pre-deployment validation)</c:v>
                </c:pt>
              </c:strCache>
            </c:strRef>
          </c:tx>
          <c:spPr>
            <a:solidFill>
              <a:srgbClr val="1BE1F2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1. Misuse &amp; Unintended Harm</c:v>
                </c:pt>
                <c:pt idx="1">
                  <c:v>2. Output Reliability &amp; Integrity</c:v>
                </c:pt>
                <c:pt idx="2">
                  <c:v>3. Fairness &amp; Customer Impact</c:v>
                </c:pt>
                <c:pt idx="3">
                  <c:v>4. Operational &amp; Security Risk</c:v>
                </c:pt>
                <c:pt idx="4">
                  <c:v>5. Model Complexity &amp; Opacity</c:v>
                </c:pt>
                <c:pt idx="5">
                  <c:v>6. Governance &amp; Oversight</c:v>
                </c:pt>
                <c:pt idx="6">
                  <c:v>7. Data Provenance &amp; Supply Chain</c:v>
                </c:pt>
                <c:pt idx="7">
                  <c:v>8. Systemic &amp; Concentration Risk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20</c:v>
                </c:pt>
                <c:pt idx="1">
                  <c:v>66</c:v>
                </c:pt>
                <c:pt idx="2">
                  <c:v>29</c:v>
                </c:pt>
                <c:pt idx="3">
                  <c:v>14</c:v>
                </c:pt>
                <c:pt idx="4">
                  <c:v>12</c:v>
                </c:pt>
                <c:pt idx="5">
                  <c:v>14</c:v>
                </c:pt>
                <c:pt idx="6">
                  <c:v>75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FF-374B-9B27-51A6DFE68F3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Deployment</c:v>
                </c:pt>
              </c:strCache>
            </c:strRef>
          </c:tx>
          <c:spPr>
            <a:solidFill>
              <a:srgbClr val="DEFF4D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1. Misuse &amp; Unintended Harm</c:v>
                </c:pt>
                <c:pt idx="1">
                  <c:v>2. Output Reliability &amp; Integrity</c:v>
                </c:pt>
                <c:pt idx="2">
                  <c:v>3. Fairness &amp; Customer Impact</c:v>
                </c:pt>
                <c:pt idx="3">
                  <c:v>4. Operational &amp; Security Risk</c:v>
                </c:pt>
                <c:pt idx="4">
                  <c:v>5. Model Complexity &amp; Opacity</c:v>
                </c:pt>
                <c:pt idx="5">
                  <c:v>6. Governance &amp; Oversight</c:v>
                </c:pt>
                <c:pt idx="6">
                  <c:v>7. Data Provenance &amp; Supply Chain</c:v>
                </c:pt>
                <c:pt idx="7">
                  <c:v>8. Systemic &amp; Concentration Risk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14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FF-374B-9B27-51A6DFE68F3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Monitoring (post-deployment)</c:v>
                </c:pt>
              </c:strCache>
            </c:strRef>
          </c:tx>
          <c:spPr>
            <a:solidFill>
              <a:srgbClr val="FF4D5F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1. Misuse &amp; Unintended Harm</c:v>
                </c:pt>
                <c:pt idx="1">
                  <c:v>2. Output Reliability &amp; Integrity</c:v>
                </c:pt>
                <c:pt idx="2">
                  <c:v>3. Fairness &amp; Customer Impact</c:v>
                </c:pt>
                <c:pt idx="3">
                  <c:v>4. Operational &amp; Security Risk</c:v>
                </c:pt>
                <c:pt idx="4">
                  <c:v>5. Model Complexity &amp; Opacity</c:v>
                </c:pt>
                <c:pt idx="5">
                  <c:v>6. Governance &amp; Oversight</c:v>
                </c:pt>
                <c:pt idx="6">
                  <c:v>7. Data Provenance &amp; Supply Chain</c:v>
                </c:pt>
                <c:pt idx="7">
                  <c:v>8. Systemic &amp; Concentration Risk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17</c:v>
                </c:pt>
                <c:pt idx="2">
                  <c:v>14</c:v>
                </c:pt>
                <c:pt idx="3">
                  <c:v>0</c:v>
                </c:pt>
                <c:pt idx="4">
                  <c:v>0</c:v>
                </c:pt>
                <c:pt idx="5">
                  <c:v>15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2FF-374B-9B27-51A6DFE68F3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00000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3156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hotos/tech_grid.jpeg"/>
          <p:cNvPicPr>
            <a:picLocks noChangeAspect="1"/>
          </p:cNvPicPr>
          <p:nvPr/>
        </p:nvPicPr>
        <p:blipFill>
          <a:blip r:embed="rId3">
            <a:alphaModFix amt="5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73152" cy="1028700"/>
          </a:xfrm>
          <a:prstGeom prst="rect">
            <a:avLst/>
          </a:prstGeom>
          <a:solidFill>
            <a:srgbClr val="1BE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1028700"/>
            <a:ext cx="73152" cy="1028700"/>
          </a:xfrm>
          <a:prstGeom prst="rect">
            <a:avLst/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0" y="2057400"/>
            <a:ext cx="73152" cy="1028700"/>
          </a:xfrm>
          <a:prstGeom prst="rect">
            <a:avLst/>
          </a:prstGeom>
          <a:solidFill>
            <a:srgbClr val="C7B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0" y="3086100"/>
            <a:ext cx="73152" cy="1028700"/>
          </a:xfrm>
          <a:prstGeom prst="rect">
            <a:avLst/>
          </a:prstGeom>
          <a:solidFill>
            <a:srgbClr val="DEFF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0" y="4114800"/>
            <a:ext cx="73152" cy="1028700"/>
          </a:xfrm>
          <a:prstGeom prst="rect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TECHNICAL DESIGN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85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JULY 2026</a:t>
            </a:r>
            <a:endParaRPr lang="en-US" sz="1100" dirty="0"/>
          </a:p>
        </p:txBody>
      </p:sp>
      <p:pic>
        <p:nvPicPr>
          <p:cNvPr id="11" name="Image 1" descr="assets/slalom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65760"/>
            <a:ext cx="914400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199" y="2103120"/>
            <a:ext cx="7828059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OSFI E-23 Risk Factor Reference</a:t>
            </a:r>
            <a:endParaRPr lang="en-US" sz="6000" dirty="0"/>
          </a:p>
        </p:txBody>
      </p:sp>
      <p:sp>
        <p:nvSpPr>
          <p:cNvPr id="13" name="Text 9"/>
          <p:cNvSpPr/>
          <p:nvPr/>
        </p:nvSpPr>
        <p:spPr>
          <a:xfrm>
            <a:off x="457200" y="3931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AI Model Risk Governance Methodology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" y="42519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All 47 factors across the 8 risk dimensions, with the Low / Medium / High / Critical parameters used to score each one.</a:t>
            </a:r>
            <a:endParaRPr lang="en-US" sz="1300" dirty="0"/>
          </a:p>
        </p:txBody>
      </p:sp>
      <p:pic>
        <p:nvPicPr>
          <p:cNvPr id="15" name="Image 2" descr="assets/slalom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892040"/>
            <a:ext cx="457200" cy="1188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©2026 Slalom. All Rights Reserved. Proprietary and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What OSFI E-23 Requires </a:t>
            </a:r>
            <a:r>
              <a:rPr lang="en-US" sz="2000" b="1" dirty="0">
                <a:solidFill>
                  <a:srgbClr val="0C62FB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at Each Lifecycle Stage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Per Section D.2 (Components of the Model Lifecycle) and Appendix 1 (Information Tracking for Models) of Guideline E-23 (2027)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840480"/>
        </p:xfrm>
        <a:graphic>
          <a:graphicData uri="http://schemas.openxmlformats.org/drawingml/2006/table">
            <a:tbl>
              <a:tblPr/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Design</a:t>
                      </a:r>
                      <a:endParaRPr lang="en-US" sz="11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Review</a:t>
                      </a:r>
                      <a:endParaRPr lang="en-US" sz="11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Deployment</a:t>
                      </a:r>
                      <a:endParaRPr lang="en-US" sz="11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Monitoring</a:t>
                      </a:r>
                      <a:endParaRPr lang="en-US" sz="11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Decommission</a:t>
                      </a:r>
                      <a:endParaRPr lang="en-US" sz="11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Establish clear model rationale: purpose, scope, business use case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Data must be accurate, relevant, compliant, traceable, timely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Follow standards for development, documentation, methodology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Define explainability needs based on autonomy &amp; impact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Independent validation of soundness, performance, fit-for-purpose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Confirm or challenge the (provisional) risk rating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Review data quality and third-party/vendor components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Evaluate explainability vs. intended use; document findings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Sign-off across developer, owner, reviewer, user, tech/ops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Confirm production data matches development data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Test model performs as expected in production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Pre-deployment risk assessment (cyber, infra – B-13/E-21)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Monitoring standards: frequency, scope, criteria by risk tier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Track performance, usage, input data, external dependencies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Define breach thresholds and contingency plans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Handle AI/ML-specific risks: drift, autonomous re-parametrization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Alert all relevant stakeholders of planned decommission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Retain model &amp; documentation for a set retention period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Address third-party/vendor model exit requirements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• Monitor downstream effects to confirm no residual impact</a:t>
                      </a:r>
                      <a:endParaRPr lang="en-US" sz="8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i="1" dirty="0">
                          <a:solidFill>
                            <a:srgbClr val="002FA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Key parameters introduced / tracked</a:t>
                      </a:r>
                      <a:endParaRPr lang="en-US" sz="7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i="1" dirty="0">
                          <a:solidFill>
                            <a:srgbClr val="002FA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Key parameters introduced / tracked</a:t>
                      </a:r>
                      <a:endParaRPr lang="en-US" sz="7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i="1" dirty="0">
                          <a:solidFill>
                            <a:srgbClr val="002FA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Key parameters introduced / tracked</a:t>
                      </a:r>
                      <a:endParaRPr lang="en-US" sz="7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i="1" dirty="0">
                          <a:solidFill>
                            <a:srgbClr val="002FA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Key parameters introduced / tracked</a:t>
                      </a:r>
                      <a:endParaRPr lang="en-US" sz="7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i="1" dirty="0">
                          <a:solidFill>
                            <a:srgbClr val="002FA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Key parameters introduced / tracked</a:t>
                      </a:r>
                      <a:endParaRPr lang="en-US" sz="7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66666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Model ID, name &amp; description, model owner, model developer, model origin, provisional risk rating, data sources</a:t>
                      </a:r>
                      <a:endParaRPr lang="en-US" sz="7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66666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Model reviewer, model approver, confirmed risk rating, approved uses, model limitations</a:t>
                      </a:r>
                      <a:endParaRPr lang="en-US" sz="7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66666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Model version, deployment date, confirmed model dependencies, production data source confirmation</a:t>
                      </a:r>
                      <a:endParaRPr lang="en-US" sz="7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66666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Monitoring status, date of last review, next review date, performance/drift metrics</a:t>
                      </a:r>
                      <a:endParaRPr lang="en-US" sz="7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666666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Decommission date &amp; rationale, retention period, downstream impact log</a:t>
                      </a:r>
                      <a:endParaRPr lang="en-US" sz="7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Image 0" descr="assets/slalom_logo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892040"/>
            <a:ext cx="457200" cy="1188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3838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©2026 Slalom. All Rights Reserved. Proprietary and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Classification by verified </a:t>
            </a:r>
            <a:r>
              <a:rPr lang="en-US" sz="2400" b="1" dirty="0">
                <a:solidFill>
                  <a:srgbClr val="0C62FB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capability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Marketing labels like "agent" or "copilot" carry no weight on their own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143000"/>
          <a:ext cx="8229600" cy="242773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Level 1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Traditional / Rules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Level 2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Generative AI Output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Level 3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Knowledge-Grounded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Level 4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Agentic / Actions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Level 5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Autonomous Agent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GenAI Generation</a:t>
                      </a:r>
                      <a:endParaRPr lang="en-US" sz="10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C62FB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✓</a:t>
                      </a: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C62FB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✓</a:t>
                      </a: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C62FB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✓</a:t>
                      </a: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C62FB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✓</a:t>
                      </a: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Runtime Retrieval (RAG)</a:t>
                      </a:r>
                      <a:endParaRPr lang="en-US" sz="10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C62FB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✓</a:t>
                      </a: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C62FB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✓</a:t>
                      </a: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C62FB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✓</a:t>
                      </a: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Tool / Action Execution</a:t>
                      </a:r>
                      <a:endParaRPr lang="en-US" sz="10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C62FB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✓</a:t>
                      </a: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C62FB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✓</a:t>
                      </a: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Autonomous Operation</a:t>
                      </a:r>
                      <a:endParaRPr lang="en-US" sz="10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C62FB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✓</a:t>
                      </a:r>
                      <a:endParaRPr lang="en-US" sz="130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Assignment rule:  </a:t>
            </a:r>
            <a:r>
              <a:rPr lang="en-US" sz="1050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assign the highest level whose capability evidence is verified. Scheduled automation and straight-through processing alone do not establish Level 5 autonomy.</a:t>
            </a:r>
            <a:endParaRPr lang="en-US" sz="1050" dirty="0"/>
          </a:p>
        </p:txBody>
      </p:sp>
      <p:pic>
        <p:nvPicPr>
          <p:cNvPr id="7" name="Image 0" descr="assets/slalom_logo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892040"/>
            <a:ext cx="457200" cy="1188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3838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©2026 Slalom. All Rights Reserved. Proprietary and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Idea to deployment: continuous </a:t>
            </a:r>
            <a:r>
              <a:rPr lang="en-US" sz="2400" b="1" dirty="0">
                <a:solidFill>
                  <a:srgbClr val="0C62FB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governance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Mapped to OSFI E-23's own model lifecycle stages - Design, Review, Deployment, Monitoring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0C62FB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DESIGN (C.1 TRIAGE) — INTAKE &amp; SCOPING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05156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37160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131673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Idea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85216" y="1700784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An employee proposes a use case - the purpose and intended capabilities, even before the technical "how" is decided.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 rot="5400000">
            <a:off x="3127248" y="1741932"/>
            <a:ext cx="128016" cy="128016"/>
          </a:xfrm>
          <a:prstGeom prst="triangle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46120" y="1280160"/>
            <a:ext cx="2651760" cy="105156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37160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48456" y="131673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Triage &amp; Provisional Rating (C.1)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374136" y="1700784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Capability-based triage (does this carry non-negligible risk?) produces a provisional risk rating - fast, before any full write-up exists.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 rot="5400000">
            <a:off x="5916168" y="1741932"/>
            <a:ext cx="128016" cy="128016"/>
          </a:xfrm>
          <a:prstGeom prst="triangle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035040" y="1280160"/>
            <a:ext cx="2651760" cy="105156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37160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7376" y="131673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Tailored Description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163056" y="1700784"/>
            <a:ext cx="23957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The provisional rating sets exactly which chapters must be completed - e.g., action inventory, data sources, guardrails.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7521934" y="2331720"/>
            <a:ext cx="0" cy="164592"/>
          </a:xfrm>
          <a:prstGeom prst="line">
            <a:avLst/>
          </a:prstGeom>
          <a:noFill/>
          <a:ln w="22225">
            <a:solidFill>
              <a:srgbClr val="0C6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 rot="10800000">
            <a:off x="7444011" y="2455164"/>
            <a:ext cx="164592" cy="146304"/>
          </a:xfrm>
          <a:prstGeom prst="triangle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495544" y="259689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30" dirty="0">
                <a:solidFill>
                  <a:srgbClr val="0C62FB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DESCRIPTION COMPLETE → TRIGGERS FULL ASSESSMENT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457200" y="2862072"/>
            <a:ext cx="1975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0C62FB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DESIGN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2542032" y="2862072"/>
            <a:ext cx="1975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0C62FB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REVIEW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4626864" y="2862072"/>
            <a:ext cx="1975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4D5F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711696" y="2862072"/>
            <a:ext cx="1975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4D5F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MONITORING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57200" y="3063240"/>
            <a:ext cx="1975104" cy="105156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3136392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12064" y="339242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Risk Assessment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30352" y="36484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47 factors score the description; classification is confirmed or refined.</a:t>
            </a:r>
            <a:endParaRPr lang="en-US" sz="730" dirty="0"/>
          </a:p>
        </p:txBody>
      </p:sp>
      <p:sp>
        <p:nvSpPr>
          <p:cNvPr id="30" name="Shape 24"/>
          <p:cNvSpPr/>
          <p:nvPr/>
        </p:nvSpPr>
        <p:spPr>
          <a:xfrm rot="5400000">
            <a:off x="2441448" y="3525012"/>
            <a:ext cx="128016" cy="128016"/>
          </a:xfrm>
          <a:prstGeom prst="triangle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2542032" y="3063240"/>
            <a:ext cx="1975104" cy="105156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136392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596896" y="339242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Controls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2615184" y="36484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Independent review confirms the rating; classification sets which controls are mandatory, risk level sets how strict.</a:t>
            </a:r>
            <a:endParaRPr lang="en-US" sz="730" dirty="0"/>
          </a:p>
        </p:txBody>
      </p:sp>
      <p:sp>
        <p:nvSpPr>
          <p:cNvPr id="35" name="Shape 28"/>
          <p:cNvSpPr/>
          <p:nvPr/>
        </p:nvSpPr>
        <p:spPr>
          <a:xfrm rot="5400000">
            <a:off x="4526280" y="3525012"/>
            <a:ext cx="128016" cy="128016"/>
          </a:xfrm>
          <a:prstGeom prst="triangle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4626864" y="3063240"/>
            <a:ext cx="1975104" cy="105156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5" descr="assets/icons/roc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5544" y="3136392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681728" y="339242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4700016" y="36484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Model goes live at the level and control set reached.</a:t>
            </a:r>
            <a:endParaRPr lang="en-US" sz="730" dirty="0"/>
          </a:p>
        </p:txBody>
      </p:sp>
      <p:sp>
        <p:nvSpPr>
          <p:cNvPr id="40" name="Shape 32"/>
          <p:cNvSpPr/>
          <p:nvPr/>
        </p:nvSpPr>
        <p:spPr>
          <a:xfrm rot="5400000">
            <a:off x="6611112" y="3525012"/>
            <a:ext cx="128016" cy="128016"/>
          </a:xfrm>
          <a:prstGeom prst="triangle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6711696" y="3063240"/>
            <a:ext cx="1975104" cy="105156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76" y="3136392"/>
            <a:ext cx="237744" cy="23774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766560" y="339242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Operational Controls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6784848" y="36484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Classification fixes which controls exist; risk level fixes how strict they run.</a:t>
            </a:r>
            <a:endParaRPr lang="en-US" sz="730" dirty="0"/>
          </a:p>
        </p:txBody>
      </p:sp>
      <p:sp>
        <p:nvSpPr>
          <p:cNvPr id="45" name="Shape 36"/>
          <p:cNvSpPr/>
          <p:nvPr/>
        </p:nvSpPr>
        <p:spPr>
          <a:xfrm>
            <a:off x="1444752" y="4233672"/>
            <a:ext cx="2084832" cy="0"/>
          </a:xfrm>
          <a:prstGeom prst="line">
            <a:avLst/>
          </a:prstGeom>
          <a:noFill/>
          <a:ln w="19050">
            <a:solidFill>
              <a:srgbClr val="0C62F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7"/>
          <p:cNvSpPr/>
          <p:nvPr/>
        </p:nvSpPr>
        <p:spPr>
          <a:xfrm rot="16200000">
            <a:off x="1371600" y="4178808"/>
            <a:ext cx="146304" cy="118872"/>
          </a:xfrm>
          <a:prstGeom prst="triangle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8"/>
          <p:cNvSpPr/>
          <p:nvPr/>
        </p:nvSpPr>
        <p:spPr>
          <a:xfrm>
            <a:off x="270344" y="4311396"/>
            <a:ext cx="8416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0C62FB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COMPLIANCE AS CODE sits in Design ⇄ Review: </a:t>
            </a:r>
            <a:r>
              <a:rPr lang="en-US" sz="750" i="1" dirty="0">
                <a:solidFill>
                  <a:srgbClr val="0C62FB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a change re-triggers scoring; a material change cycles back to re-scoping. Post-deployment, OSFI's own Monitoring triggers - performance drift, threshold breach, significant data change - re-open Review the same way.</a:t>
            </a:r>
            <a:endParaRPr lang="en-US" sz="750" dirty="0"/>
          </a:p>
        </p:txBody>
      </p:sp>
      <p:pic>
        <p:nvPicPr>
          <p:cNvPr id="49" name="Image 7" descr="assets/slalom_logo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4892040"/>
            <a:ext cx="457200" cy="118872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86868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3838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©2026 Slalom. All Rights Reserved. Proprietary and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47 topics assessed – distribution per stage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% of each dimension's factors that can be substantively evidenced (not just estimated) at each OSFI E-23 lifecycle stage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55778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914400"/>
            <a:ext cx="2651760" cy="3794760"/>
          </a:xfrm>
          <a:prstGeom prst="rect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309360" y="105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FAF"/>
                </a:solidFill>
                <a:latin typeface="Avenir Next LT Pro (Headings)" pitchFamily="34" charset="0"/>
              </a:rPr>
              <a:t>Coverage Distribution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09360" y="1371600"/>
            <a:ext cx="2331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Across all 47 factors, ~64% are Design-assessable overall — but that varies sharply by dimension.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Systemic &amp; Concentration Risk (100%) and Model Complexity &amp; Opacity (88%) are largely architecture decisions — knowable at Design.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Output Reliability (17%) and Data Provenance (25%) depend on trained-model testing and compiled data documentation — not available until Review.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Factors not yet evidenced default to Medium in scoring, so an early Design-stage score is a floor, not a final rating.</a:t>
            </a:r>
            <a:endParaRPr lang="en-US" sz="900" dirty="0"/>
          </a:p>
        </p:txBody>
      </p:sp>
      <p:pic>
        <p:nvPicPr>
          <p:cNvPr id="8" name="Image 0" descr="assets/slalom_logo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892040"/>
            <a:ext cx="457200" cy="1188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3838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©2026 Slalom. All Rights Reserved. Proprietary and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1. Misuse &amp; Unintended Harm Potential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Can the model be used in ways that cause harm beyond its intended purpose?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840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Factor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Low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Medium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High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D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Critical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0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Financial exposure if misused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&lt;$1M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$1–10M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$10–100M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&gt;$100M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Decisions influenced annually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&lt;1,000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1,000–50,000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50,000–500,000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&gt;500,000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Can outputs be used beyond original scope?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No, tightly constrained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Limited secondary uses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Multiple potential uses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Broad applicability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Reversibility of decisions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Easily reversed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Reversible with effort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Difficult to reverse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Irreversible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Confabulation / false-authority risk (GenAI)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Grounded/cited or non-generative; rare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Occasional unsupported claims, users advised to verify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Frequent confident but unverifiable outputs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High-stakes confabulation, no fact-checking/review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813816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1 / 8</a:t>
            </a:r>
            <a:endParaRPr lang="en-US" sz="800" dirty="0"/>
          </a:p>
        </p:txBody>
      </p:sp>
      <p:pic>
        <p:nvPicPr>
          <p:cNvPr id="6" name="Image 0" descr="assets/slalom_logo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892040"/>
            <a:ext cx="457200" cy="1188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3838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©2026 Slalom. All Rights Reserved. Proprietary and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2. Output Reliability &amp; Integrity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How trustworthy and consistent are the model's outputs?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840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Factor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Low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Medium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High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D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Critical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0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Error rate on validation set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&lt;1%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1–5%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5–10%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&gt;10%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Output consistency (same input/output)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&gt;99%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95–99%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90–95%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&lt;90%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Drift from baseline (monthly)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&lt;2%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2–5%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5–10%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&gt;10%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Explainability of outputs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Fully explainable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Mostly explainable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Partially explainable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Black box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Known edge cases documented?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Comprehensive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Most identified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Some gaps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Significant unknowns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GenAI output quality benchmark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Benchmarked vs. validation set/human eval, documented (or non-generative)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Some benchmarking, not comprehensive/independent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Limited or informal benchmarking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No quality benchmarking for a production generative model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2 / 8</a:t>
            </a:r>
            <a:endParaRPr lang="en-US" sz="800" dirty="0"/>
          </a:p>
        </p:txBody>
      </p:sp>
      <p:pic>
        <p:nvPicPr>
          <p:cNvPr id="4" name="Image 0" descr="assets/slalom_logo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892040"/>
            <a:ext cx="457200" cy="1188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3838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©2026 Slalom. All Rights Reserved. Proprietary and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3. Fairness &amp; Customer Impact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Does the model produce equitable outcomes? What's the impact on customers?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840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Factor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Low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Medium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High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D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Critical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0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Disparate impact ratio (protected groups)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&gt;0.9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0.8–0.9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0.7–0.8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&lt;0.7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Customer complaints attributable to model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&lt;0.1%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0.1–0.5%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0.5–2%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&gt;2%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Population affected annually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&lt;10,000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10,000–100,000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100,000–1M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&gt;1M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Decision type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Informational only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Influences decision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Significant factor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Sole determinant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Adverse action severity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Minor inconvenience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Moderate impact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Significant harm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Severe/irreversible harm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Vulnerable population exposure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None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Limited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Moderate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Significant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Pre-deployment fairness / bias testing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Comprehensive, documented across protected groups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Some testing, not comprehensive across all groups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Limited or ad hoc; coverage gaps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No pre-deployment fairness/bias testing conducted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3 / 8</a:t>
            </a:r>
            <a:endParaRPr lang="en-US" sz="800" dirty="0"/>
          </a:p>
        </p:txBody>
      </p:sp>
      <p:pic>
        <p:nvPicPr>
          <p:cNvPr id="6" name="Image 0" descr="assets/slalom_logo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892040"/>
            <a:ext cx="457200" cy="118872"/>
          </a:xfrm>
          <a:prstGeom prst="rect">
            <a:avLst/>
          </a:prstGeom>
        </p:spPr>
      </p:pic>
      <p:sp>
        <p:nvSpPr>
          <p:cNvPr id="4" name="Text 3"/>
          <p:cNvSpPr/>
          <p:nvPr/>
        </p:nvSpPr>
        <p:spPr>
          <a:xfrm>
            <a:off x="86868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3838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©2026 Slalom. All Rights Reserved. Proprietary and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4. Operational &amp; Security Risk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What are the infrastructure, availability, and security risks?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840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Factor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Low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Medium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High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D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Critical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0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Uptime requirement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&lt;95%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95–99%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99–99.9%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&gt;99.9%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Recovery time objective (RTO)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&gt;24h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4–24h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1–4h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&lt;1h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Third-party dependencies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0–1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2–3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4–6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&gt;6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Data sensitivity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Public data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Internal only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Confidential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PII/regulated data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Attack surface exposure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Internal only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Limited external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Broad external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Public-facing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Fallback / manual process available?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Full manual backup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Partial backup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Limited backup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No backup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Adversarial robustness / prompt-injection testing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Completed, documented mitigations (or N/A)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Some testing, not comprehensive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Limited testing; known gaps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No testing for an exposed system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4 / 8</a:t>
            </a:r>
            <a:endParaRPr lang="en-US" sz="800" dirty="0"/>
          </a:p>
        </p:txBody>
      </p:sp>
      <p:pic>
        <p:nvPicPr>
          <p:cNvPr id="6" name="Image 0" descr="assets/slalom_logo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892040"/>
            <a:ext cx="457200" cy="1188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3838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©2026 Slalom. All Rights Reserved. Proprietary and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5. Model Complexity &amp; Opacity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How complex is the model and how well can it be understood?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840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Factor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Low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Medium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High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D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Critical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0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Number of features / parameters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&lt;50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50–500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500–10,000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&gt;10,000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Training data volume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&lt;100K records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100K–1M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1M–100M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&gt;100M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Model architecture type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Linear/rules-based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Ensemble/boosted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Neural network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Deep learning/LLM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Autonomy level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No autonomy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Recommends only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Auto-executes with override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Fully autonomous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Self-learning / adaptive?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Static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Periodic retrain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Continuous learning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Autonomous adaptation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Decision path traceability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Full lineage/audit trail available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Traceable with reasonable effort, minor gaps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Difficult, needs specialized tooling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Fully opaque decision path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Pipeline component count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Single, self-contained component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2–3 systems chained, documented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4–6 components, some undocumented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7+ chained, or not fully documented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Model / config update velocity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Infrequent, scheduled, full change control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Quarterly, controlled release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Monthly+ or outside controlled process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Continuous/automatic, no reviewable process</a:t>
                      </a:r>
                      <a:endParaRPr lang="en-US" sz="7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5 / 8</a:t>
            </a:r>
            <a:endParaRPr lang="en-US" sz="800" dirty="0"/>
          </a:p>
        </p:txBody>
      </p:sp>
      <p:pic>
        <p:nvPicPr>
          <p:cNvPr id="6" name="Image 0" descr="assets/slalom_logo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892040"/>
            <a:ext cx="457200" cy="1188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3838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©2026 Slalom. All Rights Reserved. Proprietary and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6. Governance &amp; Oversight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How robust are the controls and accountability structures?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840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Factor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Low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Medium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High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D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Critical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0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Override rate by humans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N/A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&lt;5%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5–20%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&gt;20%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Time since last validation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&lt;6 months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6–12 months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12–24 months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&gt;24 months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Human review requirement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All decisions reviewed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Sample review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Exception-based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No review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Regulatory scrutiny level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None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Low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Moderate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High (e.g., OSFI E-23, fair lending)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Model owner accountability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Clear single owner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Shared ownership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Unclear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None assigned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AI-specific incident response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Documented, tested and current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Plan exists, not AI-specific/not recently tested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Informal or incomplete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No incident response plan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Production monitoring &amp; alerting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Automated, defined thresholds, on-call process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Exists for key metrics, some gaps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Largely manual/ad hoc, limited alerting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No automated monitoring or alerting</a:t>
                      </a:r>
                      <a:endParaRPr lang="en-US" sz="76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6 / 8</a:t>
            </a:r>
            <a:endParaRPr lang="en-US" sz="800" dirty="0"/>
          </a:p>
        </p:txBody>
      </p:sp>
      <p:pic>
        <p:nvPicPr>
          <p:cNvPr id="6" name="Image 0" descr="assets/slalom_logo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892040"/>
            <a:ext cx="457200" cy="1188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3838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©2026 Slalom. All Rights Reserved. Proprietary and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7. Data Provenance &amp; Supply Chain Risk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Are the model's data, training inputs, RAG sources, and third-party components understood, approved, and controlled?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840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Factor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Low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Medium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High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D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Critical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0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Training data documentation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Fully documented for all material datasets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Most sources documented, some metadata incomplete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Partially documented; key sources/lineage unclear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Undocumented, unknown, unapproved, or untraceable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PII in training / context data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Documented, minimized, controlled, leakage-tested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Documented and controlled, leakage testing incomplete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May be present; controls/testing incomplete or unverified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Known or likely exposure, no documented controls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Third-party / OSS component integrity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Approved, versioned, monitored, vendor-reviewed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Most approved/monitored, some non-critical gaps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Material dependencies with incomplete approval/monitoring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Unapproved, unverified, unsupported, unmonitored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Synthetic data quality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None used, or fully documented/validated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Used, partially validated, some gaps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Used materially, weak/incomplete validation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Materially affects system, no validation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7 / 8</a:t>
            </a:r>
            <a:endParaRPr lang="en-US" sz="800" dirty="0"/>
          </a:p>
        </p:txBody>
      </p:sp>
      <p:pic>
        <p:nvPicPr>
          <p:cNvPr id="6" name="Image 0" descr="assets/slalom_logo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892040"/>
            <a:ext cx="457200" cy="1188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3838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©2026 Slalom. All Rights Reserved. Proprietary and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venir Next LT Pro (Headings)" pitchFamily="34" charset="0"/>
                <a:ea typeface="Avenir Next LT Pro (Headings)" pitchFamily="34" charset="-122"/>
                <a:cs typeface="Avenir Next LT Pro (Headings)" pitchFamily="34" charset="-120"/>
              </a:rPr>
              <a:t>8. Systemic &amp; Concentration Risk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Do risks exist that aren't visible in isolation, because models/processes depend on the same vendor, platform, or provider?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840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Factor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Low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6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Medium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High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D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Critical</a:t>
                      </a:r>
                      <a:endParaRPr lang="en-US" sz="95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0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Infrastructure concentration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Resilient, substitutable, tested, not single-provider dependent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Some concentration, documented recovery/failover plan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Depends on single provider; substitution difficult/untested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Non-substitutable provider; outage halts critical process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Foundation model / vendor concentration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Documented, version-controlled, monitored, substitutable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Documented/monitored, substitution controls incomplete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Common vendor dependency; weak substitution/transparency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Critical function on single vendor, no substitution plan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Portfolio-level AI estate concentration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No single provider supports material share, or actively mitigated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Some concentration; documented, monitored, contingency plan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Single provider supports material share, incomplete mitigation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Avenir Next LT Pro (Body)" pitchFamily="34" charset="0"/>
                          <a:ea typeface="Avenir Next LT Pro (Body)" pitchFamily="34" charset="-122"/>
                          <a:cs typeface="Avenir Next LT Pro (Body)" pitchFamily="34" charset="-120"/>
                        </a:rPr>
                        <a:t>Single provider supports critical share, no contingency plan (or flagged for review if inventory data unavailable)</a:t>
                      </a:r>
                      <a:endParaRPr lang="en-US" sz="820" dirty="0">
                        <a:latin typeface="Avenir Next LT Pro (Body)" charset="0"/>
                        <a:ea typeface="Avenir Next LT Pro (Body)" charset="0"/>
                        <a:cs typeface="Avenir Next LT Pro (Body)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8 / 8</a:t>
            </a:r>
            <a:endParaRPr lang="en-US" sz="800" dirty="0"/>
          </a:p>
        </p:txBody>
      </p:sp>
      <p:pic>
        <p:nvPicPr>
          <p:cNvPr id="6" name="Image 0" descr="assets/slalom_logo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892040"/>
            <a:ext cx="457200" cy="1188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3838"/>
                </a:solidFill>
                <a:latin typeface="Avenir Next LT Pro (Body)" pitchFamily="34" charset="0"/>
                <a:ea typeface="Avenir Next LT Pro (Body)" pitchFamily="34" charset="-122"/>
                <a:cs typeface="Avenir Next LT Pro (Body)" pitchFamily="34" charset="-120"/>
              </a:rPr>
              <a:t>©2026 Slalom. All Rights Reserved. Proprietary and Confidential.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lom 2022">
  <a:themeElements>
    <a:clrScheme name="Custom 1">
      <a:dk1>
        <a:srgbClr val="000000"/>
      </a:dk1>
      <a:lt1>
        <a:sysClr val="window" lastClr="FFFFFF"/>
      </a:lt1>
      <a:dk2>
        <a:srgbClr val="666666"/>
      </a:dk2>
      <a:lt2>
        <a:srgbClr val="E6E6E6"/>
      </a:lt2>
      <a:accent1>
        <a:srgbClr val="0C62FB"/>
      </a:accent1>
      <a:accent2>
        <a:srgbClr val="002FAF"/>
      </a:accent2>
      <a:accent3>
        <a:srgbClr val="1BE1F2"/>
      </a:accent3>
      <a:accent4>
        <a:srgbClr val="FF4D5F"/>
      </a:accent4>
      <a:accent5>
        <a:srgbClr val="C7B9FF"/>
      </a:accent5>
      <a:accent6>
        <a:srgbClr val="DEFF4D"/>
      </a:accent6>
      <a:hlink>
        <a:srgbClr val="0C62FB"/>
      </a:hlink>
      <a:folHlink>
        <a:srgbClr val="0C62FB"/>
      </a:folHlink>
    </a:clrScheme>
    <a:fontScheme name="Avenir Next LT Pro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10000"/>
          </a:lnSpc>
          <a:spcBef>
            <a:spcPts val="1000"/>
          </a:spcBef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flat">
          <a:solidFill>
            <a:schemeClr val="bg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Bef>
            <a:spcPts val="1000"/>
          </a:spcBef>
          <a:defRPr dirty="0"/>
        </a:defPPr>
      </a:lstStyle>
    </a:txDef>
  </a:objectDefaults>
  <a:extraClrSchemeLst/>
  <a:custClrLst>
    <a:custClr name="Cyan Dark 3">
      <a:srgbClr val="00BAD6"/>
    </a:custClr>
    <a:custClr name="Cyan Dark 2">
      <a:srgbClr val="05C4DE"/>
    </a:custClr>
    <a:custClr name="Cyan Dark 1">
      <a:srgbClr val="0ED3EB"/>
    </a:custClr>
    <a:custClr name="Cyan Light 1">
      <a:srgbClr val="60EAF5"/>
    </a:custClr>
    <a:custClr name="Cyan Light 2">
      <a:srgbClr val="8CF0F9"/>
    </a:custClr>
    <a:custClr name="Cyan Light 3">
      <a:srgbClr val="D1F9F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Coral Red Dark 3">
      <a:srgbClr val="E6154A"/>
    </a:custClr>
    <a:custClr name="Coral Red Dark 2">
      <a:srgbClr val="F1214B"/>
    </a:custClr>
    <a:custClr name="Coral Red Dark 1">
      <a:srgbClr val="F53958"/>
    </a:custClr>
    <a:custClr name="Coral Red Light 1">
      <a:srgbClr val="FF5F6F"/>
    </a:custClr>
    <a:custClr name="Coral Red Light 2">
      <a:srgbClr val="FF7F8C"/>
    </a:custClr>
    <a:custClr name="Coral Red Light 3">
      <a:srgbClr val="FFDBD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Purple Dark 3">
      <a:srgbClr val="9488F0"/>
    </a:custClr>
    <a:custClr name="Purple Dark 2">
      <a:srgbClr val="A099F8"/>
    </a:custClr>
    <a:custClr name="Purple Dark 1">
      <a:srgbClr val="B6ACF9"/>
    </a:custClr>
    <a:custClr name="Purple Light 1">
      <a:srgbClr val="CCBFFF"/>
    </a:custClr>
    <a:custClr name="Purple Light 2">
      <a:srgbClr val="D3C7FF"/>
    </a:custClr>
    <a:custClr name="Purple Light 3">
      <a:srgbClr val="EEE9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Chartreuse Dark 3">
      <a:srgbClr val="B3CC3E"/>
    </a:custClr>
    <a:custClr name="Chartreuse Dark 2">
      <a:srgbClr val="BDDD07"/>
    </a:custClr>
    <a:custClr name="Chartreuse Dark 1">
      <a:srgbClr val="CBEB0F"/>
    </a:custClr>
    <a:custClr name="Chartreuse Light 1">
      <a:srgbClr val="E7FF80"/>
    </a:custClr>
    <a:custClr name="Chartreuse Light 2">
      <a:srgbClr val="EFFFAA"/>
    </a:custClr>
    <a:custClr name="Chartreuse Light 3">
      <a:srgbClr val="F7FFD6"/>
    </a:custClr>
  </a:custClrLst>
  <a:extLst>
    <a:ext uri="{05A4C25C-085E-4340-85A3-A5531E510DB2}">
      <thm15:themeFamily xmlns:thm15="http://schemas.microsoft.com/office/thememl/2012/main" name="Slalom_PowerPoint_16x9_Working (1)" id="{29024B6F-69C8-B448-8D3A-DA3FE971AF52}" vid="{D2EAC8E2-AA45-4248-9518-F8C957CF4DC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26349</TotalTime>
  <Words>2139</Words>
  <Application>Microsoft Macintosh PowerPoint</Application>
  <PresentationFormat>On-screen Show (16:9)</PresentationFormat>
  <Paragraphs>427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Avenir Next LT Pro (Body)</vt:lpstr>
      <vt:lpstr>Avenir Next LT Pro (Headings)</vt:lpstr>
      <vt:lpstr>Slalom 2022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Dumitru Dabija</cp:lastModifiedBy>
  <cp:revision>3</cp:revision>
  <dcterms:created xsi:type="dcterms:W3CDTF">2026-07-10T12:46:45Z</dcterms:created>
  <dcterms:modified xsi:type="dcterms:W3CDTF">2026-07-28T19:58:32Z</dcterms:modified>
</cp:coreProperties>
</file>